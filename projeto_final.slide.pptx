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8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66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732520" y="822960"/>
            <a:ext cx="1051560" cy="1051560"/>
          </a:xfrm>
          <a:prstGeom prst="ellipse">
            <a:avLst/>
          </a:prstGeom>
          <a:solidFill>
            <a:srgbClr val="48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1828800"/>
            <a:ext cx="640080" cy="640080"/>
          </a:xfrm>
          <a:prstGeom prst="ellipse">
            <a:avLst/>
          </a:prstGeom>
          <a:solidFill>
            <a:srgbClr val="48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961120" y="3108960"/>
            <a:ext cx="1645920" cy="1645920"/>
          </a:xfrm>
          <a:prstGeom prst="ellipse">
            <a:avLst/>
          </a:prstGeom>
          <a:solidFill>
            <a:srgbClr val="48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69880" y="4846320"/>
            <a:ext cx="868680" cy="868680"/>
          </a:xfrm>
          <a:prstGeom prst="ellipse">
            <a:avLst/>
          </a:prstGeom>
          <a:solidFill>
            <a:srgbClr val="48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5280660"/>
            <a:ext cx="6126480" cy="45719"/>
          </a:xfrm>
          <a:prstGeom prst="rect">
            <a:avLst/>
          </a:prstGeom>
          <a:solidFill>
            <a:srgbClr val="AED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2430648"/>
            <a:ext cx="7342632" cy="67095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dirty="0">
                <a:solidFill>
                  <a:srgbClr val="AEDABD"/>
                </a:solidFill>
                <a:latin typeface="Aptos"/>
              </a:rPr>
              <a:t>PROJETO • BANCO DE DADOS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486400"/>
            <a:ext cx="6126480" cy="13716"/>
          </a:xfrm>
          <a:prstGeom prst="rect">
            <a:avLst/>
          </a:prstGeom>
          <a:solidFill>
            <a:srgbClr val="48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650992"/>
            <a:ext cx="411480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Flavia Slomuszinski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89320"/>
            <a:ext cx="530352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BED7C7"/>
                </a:solidFill>
                <a:latin typeface="Aptos"/>
              </a:rPr>
              <a:t>Salto Veloso  |  15 de </a:t>
            </a:r>
            <a:r>
              <a:rPr sz="1100" b="0" dirty="0" err="1">
                <a:solidFill>
                  <a:srgbClr val="BED7C7"/>
                </a:solidFill>
                <a:latin typeface="Aptos"/>
              </a:rPr>
              <a:t>outubro</a:t>
            </a:r>
            <a:r>
              <a:rPr sz="1100" b="0" dirty="0">
                <a:solidFill>
                  <a:srgbClr val="BED7C7"/>
                </a:solidFill>
                <a:latin typeface="Aptos"/>
              </a:rPr>
              <a:t> de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172200"/>
            <a:ext cx="50292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6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698480" cy="6217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392B"/>
                </a:solidFill>
                <a:latin typeface="Aptos"/>
              </a:rPr>
              <a:t>Apresentação do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6949"/>
                </a:solidFill>
                <a:latin typeface="Aptos"/>
              </a:rPr>
              <a:t>Organização das entradas e saídas de materiais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846320"/>
            <a:ext cx="118872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E0EFE5"/>
                </a:solidFill>
                <a:latin typeface="Aptos"/>
              </a:rPr>
              <a:t>CONTROLE
E ORGANIZAÇÃO</a:t>
            </a:r>
          </a:p>
        </p:txBody>
      </p:sp>
      <p:sp>
        <p:nvSpPr>
          <p:cNvPr id="14" name="Oval 13"/>
          <p:cNvSpPr/>
          <p:nvPr/>
        </p:nvSpPr>
        <p:spPr>
          <a:xfrm>
            <a:off x="1103085" y="2745255"/>
            <a:ext cx="329184" cy="329184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92D050"/>
              </a:solidFill>
              <a:highlight>
                <a:srgbClr val="FFFF00"/>
              </a:highligh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19072" y="2399324"/>
            <a:ext cx="3456432" cy="1234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 err="1">
                <a:solidFill>
                  <a:srgbClr val="26362E"/>
                </a:solidFill>
                <a:latin typeface="Aptos"/>
              </a:rPr>
              <a:t>Os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registros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de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materiais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e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fornecedores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eram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mantidos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em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arquivos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separados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.</a:t>
            </a:r>
          </a:p>
        </p:txBody>
      </p:sp>
      <p:sp>
        <p:nvSpPr>
          <p:cNvPr id="18" name="Oval 17"/>
          <p:cNvSpPr/>
          <p:nvPr/>
        </p:nvSpPr>
        <p:spPr>
          <a:xfrm>
            <a:off x="6523062" y="2734364"/>
            <a:ext cx="329184" cy="329184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31228" y="2399324"/>
            <a:ext cx="3657600" cy="1234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26362E"/>
                </a:solidFill>
                <a:latin typeface="Aptos"/>
              </a:rPr>
              <a:t>Essa forma de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trabalho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dificultava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acompanhar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quantidades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disponíveis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e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identificar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divergências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.</a:t>
            </a:r>
          </a:p>
        </p:txBody>
      </p:sp>
      <p:sp>
        <p:nvSpPr>
          <p:cNvPr id="22" name="Oval 21"/>
          <p:cNvSpPr/>
          <p:nvPr/>
        </p:nvSpPr>
        <p:spPr>
          <a:xfrm>
            <a:off x="1053923" y="4360198"/>
            <a:ext cx="329184" cy="329184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1767841" y="4072162"/>
            <a:ext cx="3456432" cy="1234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26362E"/>
                </a:solidFill>
                <a:latin typeface="Aptos"/>
              </a:rPr>
              <a:t>A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proposta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foi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desenvolver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um banco de dados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relacional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usando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SQL.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4087368"/>
            <a:ext cx="3657600" cy="1234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6362E"/>
                </a:solidFill>
                <a:latin typeface="Aptos"/>
              </a:rPr>
              <a:t>Com os dados centralizados, a equipe pode consultar movimentações e atualizar os registros com mais facilidade.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6144768"/>
            <a:ext cx="10835640" cy="13716"/>
          </a:xfrm>
          <a:prstGeom prst="rect">
            <a:avLst/>
          </a:prstGeom>
          <a:solidFill>
            <a:srgbClr val="D0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835640" y="6236208"/>
            <a:ext cx="59436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166949"/>
                </a:solidFill>
                <a:latin typeface="Aptos"/>
              </a:rPr>
              <a:t>02</a:t>
            </a:r>
          </a:p>
        </p:txBody>
      </p:sp>
      <p:sp>
        <p:nvSpPr>
          <p:cNvPr id="33" name="Fluxograma: Conector 32">
            <a:extLst>
              <a:ext uri="{FF2B5EF4-FFF2-40B4-BE49-F238E27FC236}">
                <a16:creationId xmlns:a16="http://schemas.microsoft.com/office/drawing/2014/main" id="{E6AFFC6B-6B10-7010-0144-52DE2121FC9E}"/>
              </a:ext>
            </a:extLst>
          </p:cNvPr>
          <p:cNvSpPr/>
          <p:nvPr/>
        </p:nvSpPr>
        <p:spPr>
          <a:xfrm>
            <a:off x="6543096" y="4460063"/>
            <a:ext cx="329184" cy="301752"/>
          </a:xfrm>
          <a:prstGeom prst="flowChartConnector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6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698480" cy="6217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392B"/>
                </a:solidFill>
                <a:latin typeface="Aptos"/>
              </a:rPr>
              <a:t>Tecnologia escolhida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6949"/>
                </a:solidFill>
                <a:latin typeface="Aptos"/>
              </a:rPr>
              <a:t>Estrutura relacional com MySQL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38528"/>
            <a:ext cx="658368" cy="50292"/>
          </a:xfrm>
          <a:prstGeom prst="rect">
            <a:avLst/>
          </a:prstGeom>
          <a:solidFill>
            <a:srgbClr val="48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3383280"/>
            <a:ext cx="105156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D5EFDE"/>
                </a:solidFill>
                <a:latin typeface="Aptos"/>
              </a:rPr>
              <a:t>ETAPA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157462"/>
            <a:ext cx="1051560" cy="31701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dirty="0">
                <a:solidFill>
                  <a:srgbClr val="FFFFFF"/>
                </a:solidFill>
                <a:latin typeface="Aptos"/>
              </a:rPr>
              <a:t>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846320"/>
            <a:ext cx="118872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E0EFE5"/>
                </a:solidFill>
                <a:latin typeface="Aptos"/>
              </a:rPr>
              <a:t>CONTROLE
E ORGANIZAÇÃO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466594"/>
            <a:ext cx="429768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0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44168" y="2597563"/>
            <a:ext cx="3456432" cy="1234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26362E"/>
                </a:solidFill>
                <a:latin typeface="Aptos"/>
              </a:rPr>
              <a:t>As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informações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são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separadas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por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assunto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e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conectadas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por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relacionamentos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8984" y="2466594"/>
            <a:ext cx="4498848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0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80873" y="2585389"/>
            <a:ext cx="3657600" cy="1234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26362E"/>
                </a:solidFill>
                <a:latin typeface="Aptos"/>
              </a:rPr>
              <a:t>A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chave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primária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diferencia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cada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registro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,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enquanto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a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chave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estrangeira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liga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informações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de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tabelas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distintas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5424" y="4518676"/>
            <a:ext cx="429768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0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43584" y="4642120"/>
            <a:ext cx="3456432" cy="1234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26362E"/>
                </a:solidFill>
                <a:latin typeface="Aptos"/>
              </a:rPr>
              <a:t>No MySQL é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possível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criar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tabelas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,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consultas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, views, procedures e triggers para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apoiar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a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rotina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13778" y="4608576"/>
            <a:ext cx="4498848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0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09647" y="4765564"/>
            <a:ext cx="3657600" cy="1234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26362E"/>
                </a:solidFill>
                <a:latin typeface="Aptos"/>
              </a:rPr>
              <a:t>Essa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tecnologia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pode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ser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aplicada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em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sistemas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de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almoxarifado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e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controle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de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compras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6144768"/>
            <a:ext cx="10835640" cy="13716"/>
          </a:xfrm>
          <a:prstGeom prst="rect">
            <a:avLst/>
          </a:prstGeom>
          <a:solidFill>
            <a:srgbClr val="D0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835640" y="6236208"/>
            <a:ext cx="59436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166949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6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698480" cy="6217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392B"/>
                </a:solidFill>
                <a:latin typeface="Aptos"/>
              </a:rPr>
              <a:t>Organização dos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6949"/>
                </a:solidFill>
                <a:latin typeface="Aptos"/>
              </a:rPr>
              <a:t>Tabelas para controlar o estoque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38528"/>
            <a:ext cx="658368" cy="50292"/>
          </a:xfrm>
          <a:prstGeom prst="rect">
            <a:avLst/>
          </a:prstGeom>
          <a:solidFill>
            <a:srgbClr val="48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2151126"/>
            <a:ext cx="429768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0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96112" y="2292858"/>
            <a:ext cx="3456432" cy="10515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 err="1">
                <a:solidFill>
                  <a:srgbClr val="26362E"/>
                </a:solidFill>
                <a:latin typeface="Aptos"/>
              </a:rPr>
              <a:t>Fornecedores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: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nome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documento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telefone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e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endereço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1177" y="2103056"/>
            <a:ext cx="4498848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0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21970" y="2226500"/>
            <a:ext cx="3657600" cy="10515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 err="1">
                <a:solidFill>
                  <a:srgbClr val="26362E"/>
                </a:solidFill>
                <a:latin typeface="Aptos"/>
              </a:rPr>
              <a:t>Materiais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: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descrição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categoria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custo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unitário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e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quantidade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disponível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893058"/>
            <a:ext cx="429768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0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1088136" y="3976497"/>
            <a:ext cx="3456432" cy="10515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 err="1">
                <a:solidFill>
                  <a:srgbClr val="26362E"/>
                </a:solidFill>
                <a:latin typeface="Aptos"/>
              </a:rPr>
              <a:t>Compras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: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registra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a data, o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fornecedor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e o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recebimento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dos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materiais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5493" y="3853053"/>
            <a:ext cx="4498848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0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96117" y="3888024"/>
            <a:ext cx="3657600" cy="10515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 err="1">
                <a:solidFill>
                  <a:srgbClr val="26362E"/>
                </a:solidFill>
                <a:latin typeface="Aptos"/>
              </a:rPr>
              <a:t>Itens_Compra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: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associa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cada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compra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aos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materiais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, com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quantidade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e valor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unitário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13432" y="5356098"/>
            <a:ext cx="9043416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0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843784" y="5383068"/>
            <a:ext cx="8202168" cy="50291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6362E"/>
                </a:solidFill>
                <a:latin typeface="Aptos"/>
              </a:rPr>
              <a:t>Relacionamentos: Fornecedores 1:N Compras; Compras 1:N Itens_Compra; Materiais 1:N Itens_Compra.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6144768"/>
            <a:ext cx="10835640" cy="13716"/>
          </a:xfrm>
          <a:prstGeom prst="rect">
            <a:avLst/>
          </a:prstGeom>
          <a:solidFill>
            <a:srgbClr val="D0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835640" y="6236208"/>
            <a:ext cx="59436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166949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6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698480" cy="6217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392B"/>
                </a:solidFill>
                <a:latin typeface="Aptos"/>
              </a:rPr>
              <a:t>Consultas para o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6949"/>
                </a:solidFill>
                <a:latin typeface="Aptos"/>
              </a:rPr>
              <a:t>Acompanhamento das movimentações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38528"/>
            <a:ext cx="658368" cy="50292"/>
          </a:xfrm>
          <a:prstGeom prst="rect">
            <a:avLst/>
          </a:prstGeom>
          <a:solidFill>
            <a:srgbClr val="48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417320" y="2253996"/>
            <a:ext cx="429768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0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18218" y="2313432"/>
            <a:ext cx="3456432" cy="10515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 err="1">
                <a:solidFill>
                  <a:srgbClr val="26362E"/>
                </a:solidFill>
                <a:latin typeface="Aptos"/>
              </a:rPr>
              <a:t>Consultar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quais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fornecedores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tiveram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mais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entregas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registradas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67728" y="2240280"/>
            <a:ext cx="4498848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0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26096" y="2377440"/>
            <a:ext cx="3657600" cy="10515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62E"/>
                </a:solidFill>
                <a:latin typeface="Aptos"/>
              </a:rPr>
              <a:t>Localizar os materiais com maior saída em determinado período.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3762756"/>
            <a:ext cx="429768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0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951371" y="3893058"/>
            <a:ext cx="3456432" cy="10515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 err="1">
                <a:solidFill>
                  <a:srgbClr val="26362E"/>
                </a:solidFill>
                <a:latin typeface="Aptos"/>
              </a:rPr>
              <a:t>Calcular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o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custo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total de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cada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compra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recebida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67728" y="3767328"/>
            <a:ext cx="4498848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0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26096" y="3904488"/>
            <a:ext cx="3657600" cy="10515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62E"/>
                </a:solidFill>
                <a:latin typeface="Aptos"/>
              </a:rPr>
              <a:t>Encontrar materiais cujo estoque esteja abaixo da quantidade mínima.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23160" y="5285232"/>
            <a:ext cx="9043416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0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081528" y="5422392"/>
            <a:ext cx="8202168" cy="50291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62E"/>
                </a:solidFill>
                <a:latin typeface="Aptos"/>
              </a:rPr>
              <a:t>INSERT, UPDATE e DELETE permitem cadastrar, atualizar e remover dados.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6144768"/>
            <a:ext cx="10835640" cy="13716"/>
          </a:xfrm>
          <a:prstGeom prst="rect">
            <a:avLst/>
          </a:prstGeom>
          <a:solidFill>
            <a:srgbClr val="D0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835640" y="6236208"/>
            <a:ext cx="59436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166949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6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698480" cy="6217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392B"/>
                </a:solidFill>
                <a:latin typeface="Aptos"/>
              </a:rPr>
              <a:t>Ferramentas de apoio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6949"/>
                </a:solidFill>
                <a:latin typeface="Aptos"/>
              </a:rPr>
              <a:t>Rotinas que simplificam o controle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38528"/>
            <a:ext cx="658368" cy="50292"/>
          </a:xfrm>
          <a:prstGeom prst="rect">
            <a:avLst/>
          </a:prstGeom>
          <a:solidFill>
            <a:srgbClr val="48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19986" y="2331720"/>
            <a:ext cx="429768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0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40610" y="2427732"/>
            <a:ext cx="3456432" cy="1234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26362E"/>
                </a:solidFill>
                <a:latin typeface="Aptos"/>
              </a:rPr>
              <a:t>Stored Procedures: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executam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tarefas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frequentes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,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como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consultar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compras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e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calcular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custos.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02552" y="2318877"/>
            <a:ext cx="4498848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0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86357" y="2427732"/>
            <a:ext cx="3657600" cy="1234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26362E"/>
                </a:solidFill>
                <a:latin typeface="Aptos"/>
              </a:rPr>
              <a:t>Views: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apresentam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resumos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de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materiais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fornecedores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e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movimentações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114800"/>
            <a:ext cx="429768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0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655064" y="4256532"/>
            <a:ext cx="3456432" cy="1234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26362E"/>
                </a:solidFill>
                <a:latin typeface="Aptos"/>
              </a:rPr>
              <a:t>Triggers: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podem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registrar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automaticamente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alterações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e auxiliar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na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atualização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das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quantidades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02552" y="4114800"/>
            <a:ext cx="4498848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0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23176" y="4256532"/>
            <a:ext cx="3657600" cy="1234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 err="1">
                <a:solidFill>
                  <a:srgbClr val="26362E"/>
                </a:solidFill>
                <a:latin typeface="Aptos"/>
              </a:rPr>
              <a:t>Tabela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temporária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: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permite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reunir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os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materiais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movimentados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durante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uma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análise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6144768"/>
            <a:ext cx="10835640" cy="13716"/>
          </a:xfrm>
          <a:prstGeom prst="rect">
            <a:avLst/>
          </a:prstGeom>
          <a:solidFill>
            <a:srgbClr val="D0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835640" y="6236208"/>
            <a:ext cx="59436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166949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6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698480" cy="6217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392B"/>
                </a:solidFill>
                <a:latin typeface="Aptos"/>
              </a:rPr>
              <a:t>Benefícios do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6949"/>
                </a:solidFill>
                <a:latin typeface="Aptos"/>
              </a:rPr>
              <a:t>Mais controle e informação confiável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38528"/>
            <a:ext cx="658368" cy="50292"/>
          </a:xfrm>
          <a:prstGeom prst="rect">
            <a:avLst/>
          </a:prstGeom>
          <a:solidFill>
            <a:srgbClr val="48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2464308"/>
            <a:ext cx="429768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0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8304" y="2560320"/>
            <a:ext cx="3456432" cy="10515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26362E"/>
                </a:solidFill>
                <a:latin typeface="Aptos"/>
              </a:rPr>
              <a:t>O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projeto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integra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fornecedores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materiais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compras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e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itens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em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tabelas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relacionadas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07608" y="2474788"/>
            <a:ext cx="4498848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0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2531963"/>
            <a:ext cx="3657600" cy="10515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26362E"/>
                </a:solidFill>
                <a:latin typeface="Aptos"/>
              </a:rPr>
              <a:t>As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consultas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facilitam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verificar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quantidades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, custos e histórico de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recebimentos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083721"/>
            <a:ext cx="429768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0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70432" y="4069080"/>
            <a:ext cx="3456432" cy="10515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26362E"/>
                </a:solidFill>
                <a:latin typeface="Aptos"/>
              </a:rPr>
              <a:t>A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separação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adequada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dos dados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diminui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repetições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e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torna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as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atualizações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6362E"/>
                </a:solidFill>
                <a:latin typeface="Aptos"/>
              </a:rPr>
              <a:t>mais</a:t>
            </a:r>
            <a:r>
              <a:rPr sz="1300" b="0" dirty="0">
                <a:solidFill>
                  <a:srgbClr val="26362E"/>
                </a:solidFill>
                <a:latin typeface="Aptos"/>
              </a:rPr>
              <a:t> simples.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03620" y="4069080"/>
            <a:ext cx="4498848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0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08954" y="4233672"/>
            <a:ext cx="3657600" cy="10515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26362E"/>
                </a:solidFill>
                <a:latin typeface="Aptos"/>
              </a:rPr>
              <a:t>A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estrutura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pode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ser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aproveitada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em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um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sistema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de estoque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usado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por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uma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6362E"/>
                </a:solidFill>
                <a:latin typeface="Aptos"/>
              </a:rPr>
              <a:t>empresa</a:t>
            </a:r>
            <a:r>
              <a:rPr sz="1400" b="0" dirty="0">
                <a:solidFill>
                  <a:srgbClr val="26362E"/>
                </a:solidFill>
                <a:latin typeface="Aptos"/>
              </a:rPr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23138" y="5515168"/>
            <a:ext cx="9043416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0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276856" y="5688493"/>
            <a:ext cx="8202168" cy="50291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err="1">
                <a:solidFill>
                  <a:srgbClr val="26362E"/>
                </a:solidFill>
                <a:latin typeface="Aptos"/>
              </a:rPr>
              <a:t>Resultado</a:t>
            </a:r>
            <a:r>
              <a:rPr sz="1300" b="1" dirty="0">
                <a:solidFill>
                  <a:srgbClr val="26362E"/>
                </a:solidFill>
                <a:latin typeface="Aptos"/>
              </a:rPr>
              <a:t>: </a:t>
            </a:r>
            <a:r>
              <a:rPr sz="1300" b="1" dirty="0" err="1">
                <a:solidFill>
                  <a:srgbClr val="26362E"/>
                </a:solidFill>
                <a:latin typeface="Aptos"/>
              </a:rPr>
              <a:t>melhor</a:t>
            </a:r>
            <a:r>
              <a:rPr sz="1300" b="1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26362E"/>
                </a:solidFill>
                <a:latin typeface="Aptos"/>
              </a:rPr>
              <a:t>visibilidade</a:t>
            </a:r>
            <a:r>
              <a:rPr sz="1300" b="1" dirty="0">
                <a:solidFill>
                  <a:srgbClr val="26362E"/>
                </a:solidFill>
                <a:latin typeface="Aptos"/>
              </a:rPr>
              <a:t> do estoque, </a:t>
            </a:r>
            <a:r>
              <a:rPr sz="1300" b="1" dirty="0" err="1">
                <a:solidFill>
                  <a:srgbClr val="26362E"/>
                </a:solidFill>
                <a:latin typeface="Aptos"/>
              </a:rPr>
              <a:t>consultas</a:t>
            </a:r>
            <a:r>
              <a:rPr sz="1300" b="1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26362E"/>
                </a:solidFill>
                <a:latin typeface="Aptos"/>
              </a:rPr>
              <a:t>práticas</a:t>
            </a:r>
            <a:r>
              <a:rPr sz="1300" b="1" dirty="0">
                <a:solidFill>
                  <a:srgbClr val="26362E"/>
                </a:solidFill>
                <a:latin typeface="Aptos"/>
              </a:rPr>
              <a:t> e </a:t>
            </a:r>
            <a:r>
              <a:rPr sz="1300" b="1" dirty="0" err="1">
                <a:solidFill>
                  <a:srgbClr val="26362E"/>
                </a:solidFill>
                <a:latin typeface="Aptos"/>
              </a:rPr>
              <a:t>registros</a:t>
            </a:r>
            <a:r>
              <a:rPr sz="1300" b="1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26362E"/>
                </a:solidFill>
                <a:latin typeface="Aptos"/>
              </a:rPr>
              <a:t>mais</a:t>
            </a:r>
            <a:r>
              <a:rPr sz="1300" b="1" dirty="0">
                <a:solidFill>
                  <a:srgbClr val="26362E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26362E"/>
                </a:solidFill>
                <a:latin typeface="Aptos"/>
              </a:rPr>
              <a:t>consistentes</a:t>
            </a:r>
            <a:r>
              <a:rPr sz="1300" b="1" dirty="0">
                <a:solidFill>
                  <a:srgbClr val="26362E"/>
                </a:solidFill>
                <a:latin typeface="Aptos"/>
              </a:rPr>
              <a:t>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6144768"/>
            <a:ext cx="10835640" cy="13716"/>
          </a:xfrm>
          <a:prstGeom prst="rect">
            <a:avLst/>
          </a:prstGeom>
          <a:solidFill>
            <a:srgbClr val="D0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835640" y="6236208"/>
            <a:ext cx="59436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166949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441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CMEISV - ALUNOS</dc:creator>
  <cp:keywords/>
  <dc:description>generated using python-pptx</dc:description>
  <cp:lastModifiedBy>CMEISV - ALUNOS</cp:lastModifiedBy>
  <cp:revision>2</cp:revision>
  <dcterms:created xsi:type="dcterms:W3CDTF">2013-01-27T09:14:16Z</dcterms:created>
  <dcterms:modified xsi:type="dcterms:W3CDTF">2026-10-15T19:39:04Z</dcterms:modified>
  <cp:category/>
</cp:coreProperties>
</file>